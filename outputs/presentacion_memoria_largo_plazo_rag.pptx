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30"/>
    <p:restoredTop sz="78980"/>
  </p:normalViewPr>
  <p:slideViewPr>
    <p:cSldViewPr snapToGrid="0">
      <p:cViewPr>
        <p:scale>
          <a:sx n="148" d="100"/>
          <a:sy n="148" d="100"/>
        </p:scale>
        <p:origin x="1016" y="-768"/>
      </p:cViewPr>
      <p:guideLst/>
    </p:cSldViewPr>
  </p:slideViewPr>
  <p:notesTextViewPr>
    <p:cViewPr>
      <p:scale>
        <a:sx n="155" d="100"/>
        <a:sy n="155" d="100"/>
      </p:scale>
      <p:origin x="0" y="-13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Presentador 1.</a:t>
            </a:r>
          </a:p>
          <a:p>
            <a:r>
              <a:t>Buenos días. Nuestra presentación trata sobre memoria a largo plazo en un sistema Agentic RAG.</a:t>
            </a:r>
          </a:p>
          <a:p>
            <a:r>
              <a:t>La idea principal es que un chatbot con RAG puede responder usando documentos o datasets, pero si no tiene memoria, cada conversación empieza casi desde cero.</a:t>
            </a:r>
          </a:p>
          <a:p>
            <a:r>
              <a:t>La memoria a largo plazo permite guardar información estable del usuario y reutilizarla más adelante para mejorar la personalización y la coherencia.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Presentador 1.</a:t>
            </a:r>
          </a:p>
          <a:p>
            <a:r>
              <a:t>Para entender por qué la memoria importa, podemos comparar dos casos.</a:t>
            </a:r>
          </a:p>
          <a:p>
            <a:r>
              <a:t>Sin memoria, el sistema solo usa el mensaje actual y la información recuperada por RAG. Eso funciona para responder preguntas puntuales, pero no conserva continuidad.</a:t>
            </a:r>
          </a:p>
          <a:p>
            <a:r>
              <a:t>Con memoria, el agente puede recordar información estable del usuario, por ejemplo una alergia, un gusto o una preferencia.</a:t>
            </a:r>
          </a:p>
          <a:p>
            <a:r>
              <a:t>En nuestro caso, esto permite que el chatbot de recetas no recomiende comida incompatible con el usuario y que mantenga coherencia entre conversaciones diferentes.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Presentador 1.</a:t>
            </a:r>
          </a:p>
          <a:p>
            <a:r>
              <a:t>Hay varias formas de implementar memoria a largo plazo.</a:t>
            </a:r>
          </a:p>
          <a:p>
            <a:r>
              <a:t>La primera es guardar todo el historial. Es simple y conserva mucho detalle, pero escala mal porque consume muchos tokens.</a:t>
            </a:r>
          </a:p>
          <a:p>
            <a:r>
              <a:t>La segunda es resumir conversaciones. Reduce costo, aunque puede perder información importante.</a:t>
            </a:r>
          </a:p>
          <a:p>
            <a:r>
              <a:t>La tercera es memoria vectorial: se guarda cada recuerdo como embedding y luego se recupera por similitud semántica.</a:t>
            </a:r>
          </a:p>
          <a:p>
            <a:r>
              <a:t>La cuarta es usar datos estructurados, como campos de perfil del usuario. Es más preciso, pero menos flexible.</a:t>
            </a:r>
          </a:p>
          <a:p>
            <a:r>
              <a:t>La conclusión es que una solución híbrida suele ser la más conveniente.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Presentador 2.</a:t>
            </a:r>
          </a:p>
          <a:p>
            <a:r>
              <a:t>Ahora voy a explicar cómo integramos la memoria a largo plazo con el pipeline RAG.</a:t>
            </a:r>
          </a:p>
          <a:p>
            <a:r>
              <a:t>En un RAG tradicional, el usuario hace una consulta, el sistema recupera información relevante de una base vectorial y el modelo genera una respuesta usando esa información.</a:t>
            </a:r>
          </a:p>
          <a:p>
            <a:r>
              <a:t>Nosotros agregamos una segunda fuente de contexto: la memoria del usuario.</a:t>
            </a:r>
          </a:p>
          <a:p>
            <a:r>
              <a:t>Para eso implementamos dos herramientas. La primera es save_memory. El agente la usa cuando detecta información personal estable, como preferencias alimentarias, alergias o gustos. Esa información se transforma en un embedding y se guarda en Pinecone.</a:t>
            </a:r>
          </a:p>
          <a:p>
            <a:r>
              <a:t>La segunda herramienta es recall_memory. Cuando una nueva consulta puede depender del usuario, el agente genera un embedding de la consulta y busca recuerdos relevantes.</a:t>
            </a:r>
          </a:p>
          <a:p>
            <a:r>
              <a:t>Cada usuario tiene su propio namespace. Esto es importante porque evita mezclar información entre usuarios distintos.</a:t>
            </a:r>
          </a:p>
          <a:p>
            <a:r>
              <a:t>Finalmente, el modelo recibe la consulta actual, los resultados del RAG y la memoria recuperada, y genera una respuesta personalizada.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Presentador 2.</a:t>
            </a:r>
          </a:p>
          <a:p>
            <a:r>
              <a:t>En nuestro notebook, la memoria se implementa sobre Pinecone, igual que las otras bases vectoriales del sistema.</a:t>
            </a:r>
          </a:p>
          <a:p>
            <a:r>
              <a:t>Tenemos un namespace para recetas, uno para papers y namespaces separados para memoria por usuario.</a:t>
            </a:r>
          </a:p>
          <a:p>
            <a:r>
              <a:t>La herramienta save_memory toma un texto, lo transforma en embedding y lo guarda con metadata del usuario.</a:t>
            </a:r>
          </a:p>
          <a:p>
            <a:r>
              <a:t>La herramienta recall_memory toma una consulta, la embebe y busca recuerdos cercanos semánticamente.</a:t>
            </a:r>
          </a:p>
          <a:p>
            <a:r>
              <a:t>Esto ya está integrado con LangGraph mediante tool calling.</a:t>
            </a:r>
          </a:p>
          <a:p>
            <a:r>
              <a:t>Un punto importante es que todavía es un prototipo: funciona, pero hay que mejorar controles como evitar duplicados y validar que la respuesta final respete la información recuperada.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Presentador 3.</a:t>
            </a:r>
          </a:p>
          <a:p>
            <a:r>
              <a:t>La memoria tiene impacto en tres dimensiones.</a:t>
            </a:r>
          </a:p>
          <a:p>
            <a:r>
              <a:t>Primero, calidad: mejora la personalización y evita respuestas genéricas, pero si recupera un recuerdo irrelevante puede empeorar la respuesta.</a:t>
            </a:r>
          </a:p>
          <a:p>
            <a:r>
              <a:t>Segundo, costo: puede ahorrar tokens porque no hay que repetir todo, pero también agrega costo por embeddings, búsquedas vectoriales y contexto adicional.</a:t>
            </a:r>
          </a:p>
          <a:p>
            <a:r>
              <a:t>Tercero, coherencia: ayuda a mantener continuidad entre conversaciones, pero si se guarda información incorrecta, el error puede repetirse en el futuro.</a:t>
            </a:r>
          </a:p>
          <a:p>
            <a:r>
              <a:t>Entonces, la memoria no es solo guardar más información. El desafío es guardar lo correcto, recuperarlo cuando corresponde y no contaminar la respuesta.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Presentador 3.</a:t>
            </a:r>
          </a:p>
          <a:p>
            <a:r>
              <a:t>Para la demo, proponemos un caso simple y fácil de explicar.</a:t>
            </a:r>
          </a:p>
          <a:p>
            <a:r>
              <a:t>Primero, Alice le dice al sistema que es intolerante a la lactosa y que le gusta la comida picante.</a:t>
            </a:r>
          </a:p>
          <a:p>
            <a:r>
              <a:t>El agente guarda ese dato con save_memory.</a:t>
            </a:r>
          </a:p>
          <a:p>
            <a:r>
              <a:t>Después abrimos una conversación nueva y le pedimos una recomendación para cenar.</a:t>
            </a:r>
          </a:p>
          <a:p>
            <a:r>
              <a:t>El sistema usa recall_memory, recupera esas preferencias y las combina con el RAG de recetas.</a:t>
            </a:r>
          </a:p>
          <a:p>
            <a:r>
              <a:t>La respuesta esperada debería ser una recomendación sin lácteos y con perfil picante.</a:t>
            </a:r>
          </a:p>
          <a:p>
            <a:r>
              <a:t>También es importante mostrar el caso Bob: si Bob pregunta qué se recuerda de él, no debe aparecer información de Alice. Eso demuestra separación por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Presentador 3.</a:t>
            </a:r>
          </a:p>
          <a:p>
            <a:r>
              <a:t>Para cerrar, la memoria a largo plazo hace que el sistema no sea solamente un RAG que contesta preguntas aisladas, sino un asistente con continuidad.</a:t>
            </a:r>
          </a:p>
          <a:p>
            <a:r>
              <a:t>La estrategia más equilibrada suele ser híbrida: memoria vectorial para preferencias flexibles, datos estructurados para hechos importantes y resúmenes para contexto general.</a:t>
            </a:r>
          </a:p>
          <a:p>
            <a:r>
              <a:t>El beneficio principal es mejorar personalización y coherencia.</a:t>
            </a:r>
          </a:p>
          <a:p>
            <a:r>
              <a:t>Pero también aparecen riesgos: privacidad, recuerdos duplicados, recuerdos incorrectos y aumento de costo.</a:t>
            </a:r>
          </a:p>
          <a:p>
            <a:r>
              <a:t>En nuestro obligatorio, ya tenemos una base funcional. Lo siguiente es fortalecer la evaluación y los controles para que la memoria mejore la respuesta sin introducir ruido.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24D3C8F-F65B-464E-9CDE-B203CBE86B20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000250" cy="3238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0">
            <a:solidFill>
              <a:srgbClr val="06B6D4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Taller de Tecnologías 2</a:t>
            </a:r>
          </a:p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sz="9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0DEA2842-6833-4DDB-82AC-2B696EB493A0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7810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Memoria a largo plazo en un Agentic RAG</a:t>
            </a:r>
          </a:p>
        </p:txBody>
      </p:sp>
      <p:sp>
        <p:nvSpPr>
          <p:cNvPr id="3" name="cover-sub">
            <a:extLst>
              <a:ext uri="{FF2B5EF4-FFF2-40B4-BE49-F238E27FC236}">
                <a16:creationId xmlns:a16="http://schemas.microsoft.com/office/drawing/2014/main" id="{50CC0857-06A0-4CD5-88F2-17BD0721598F}"/>
              </a:ext>
            </a:extLst>
          </p:cNvPr>
          <p:cNvSpPr>
            <a:spLocks noGrp="1"/>
          </p:cNvSpPr>
          <p:nvPr/>
        </p:nvSpPr>
        <p:spPr>
          <a:xfrm>
            <a:off x="704850" y="3162300"/>
            <a:ext cx="7239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Estrategias, integración con el pipeline RAG e impacto en calidad, costo y coherencia</a:t>
            </a:r>
          </a:p>
        </p:txBody>
      </p:sp>
      <p:sp>
        <p:nvSpPr>
          <p:cNvPr id="4" name="cover-box">
            <a:extLst>
              <a:ext uri="{FF2B5EF4-FFF2-40B4-BE49-F238E27FC236}">
                <a16:creationId xmlns:a16="http://schemas.microsoft.com/office/drawing/2014/main" id="{EFA297EC-DB25-4AAF-A642-B0CE3D9718D9}"/>
              </a:ext>
            </a:extLst>
          </p:cNvPr>
          <p:cNvSpPr>
            <a:spLocks noGrp="1"/>
          </p:cNvSpPr>
          <p:nvPr/>
        </p:nvSpPr>
        <p:spPr>
          <a:xfrm>
            <a:off x="8572500" y="1314450"/>
            <a:ext cx="2857500" cy="337185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Y"/>
          </a:p>
        </p:txBody>
      </p:sp>
      <p:sp>
        <p:nvSpPr>
          <p:cNvPr id="5" name="cover-box-title">
            <a:extLst>
              <a:ext uri="{FF2B5EF4-FFF2-40B4-BE49-F238E27FC236}">
                <a16:creationId xmlns:a16="http://schemas.microsoft.com/office/drawing/2014/main" id="{0C3C2D2E-7975-4E9B-B966-2AD334226D06}"/>
              </a:ext>
            </a:extLst>
          </p:cNvPr>
          <p:cNvSpPr>
            <a:spLocks noGrp="1"/>
          </p:cNvSpPr>
          <p:nvPr/>
        </p:nvSpPr>
        <p:spPr>
          <a:xfrm>
            <a:off x="8858250" y="16954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Idea central</a:t>
            </a:r>
          </a:p>
        </p:txBody>
      </p:sp>
      <p:sp>
        <p:nvSpPr>
          <p:cNvPr id="6" name="cover-box-copy">
            <a:extLst>
              <a:ext uri="{FF2B5EF4-FFF2-40B4-BE49-F238E27FC236}">
                <a16:creationId xmlns:a16="http://schemas.microsoft.com/office/drawing/2014/main" id="{3D144D11-0823-40DB-9E69-1A539269BA80}"/>
              </a:ext>
            </a:extLst>
          </p:cNvPr>
          <p:cNvSpPr>
            <a:spLocks noGrp="1"/>
          </p:cNvSpPr>
          <p:nvPr/>
        </p:nvSpPr>
        <p:spPr>
          <a:xfrm>
            <a:off x="8858250" y="2190750"/>
            <a:ext cx="2238375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 memoria permite que el agente no empiece de cero en cada conversación: recuerda preferencias, hechos estables y contexto útil del usuario.</a:t>
            </a:r>
          </a:p>
        </p:txBody>
      </p:sp>
      <p:sp>
        <p:nvSpPr>
          <p:cNvPr id="7" name="cover-footer">
            <a:extLst>
              <a:ext uri="{FF2B5EF4-FFF2-40B4-BE49-F238E27FC236}">
                <a16:creationId xmlns:a16="http://schemas.microsoft.com/office/drawing/2014/main" id="{14DDFCD8-992A-4BB2-97EF-1E67F6B426E3}"/>
              </a:ext>
            </a:extLst>
          </p:cNvPr>
          <p:cNvSpPr>
            <a:spLocks noGrp="1"/>
          </p:cNvSpPr>
          <p:nvPr/>
        </p:nvSpPr>
        <p:spPr>
          <a:xfrm>
            <a:off x="685800" y="62103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BFDBF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FDBFE"/>
                </a:solidFill>
                <a:latin typeface="Aptos"/>
                <a:ea typeface="Aptos"/>
                <a:cs typeface="Aptos"/>
              </a:rPr>
              <a:t>Taller de Tecnologías 2 · Obligatorio abril 2026</a:t>
            </a:r>
          </a:p>
        </p:txBody>
      </p:sp>
    </p:spTree>
    <p:extLst>
      <p:ext uri="{BB962C8B-B14F-4D97-AF65-F5344CB8AC3E}">
        <p14:creationId xmlns:p14="http://schemas.microsoft.com/office/powerpoint/2010/main" val="1130753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kicker-2">
            <a:extLst>
              <a:ext uri="{FF2B5EF4-FFF2-40B4-BE49-F238E27FC236}">
                <a16:creationId xmlns:a16="http://schemas.microsoft.com/office/drawing/2014/main" id="{89D46B2D-A904-4CF4-AAA6-866B096C793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OBLIGATORIO TT2 · TEMA DE PRESENTACION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23053FFE-790C-46D9-AC8B-0AAD78BDDD2D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Por qué la memoria importa</a:t>
            </a:r>
          </a:p>
        </p:txBody>
      </p:sp>
      <p:sp>
        <p:nvSpPr>
          <p:cNvPr id="3" name="footer-2">
            <a:extLst>
              <a:ext uri="{FF2B5EF4-FFF2-40B4-BE49-F238E27FC236}">
                <a16:creationId xmlns:a16="http://schemas.microsoft.com/office/drawing/2014/main" id="{8BF9D480-A04F-41D3-9B47-4579001860E2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Memoria a largo plazo en Agentic RAG  |  Presentador 1</a:t>
            </a:r>
          </a:p>
        </p:txBody>
      </p:sp>
      <p:sp>
        <p:nvSpPr>
          <p:cNvPr id="4" name="page-2">
            <a:extLst>
              <a:ext uri="{FF2B5EF4-FFF2-40B4-BE49-F238E27FC236}">
                <a16:creationId xmlns:a16="http://schemas.microsoft.com/office/drawing/2014/main" id="{78569E90-FDAF-4F82-956F-F84BE99A8797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" name="without">
            <a:extLst>
              <a:ext uri="{FF2B5EF4-FFF2-40B4-BE49-F238E27FC236}">
                <a16:creationId xmlns:a16="http://schemas.microsoft.com/office/drawing/2014/main" id="{F86038D2-FB7C-4B6D-95D3-C176B5E7EAFA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4762500" cy="28575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Y"/>
          </a:p>
        </p:txBody>
      </p:sp>
      <p:sp>
        <p:nvSpPr>
          <p:cNvPr id="6" name="with">
            <a:extLst>
              <a:ext uri="{FF2B5EF4-FFF2-40B4-BE49-F238E27FC236}">
                <a16:creationId xmlns:a16="http://schemas.microsoft.com/office/drawing/2014/main" id="{530160C5-7B7C-49A9-9065-3A69DC8FBA57}"/>
              </a:ext>
            </a:extLst>
          </p:cNvPr>
          <p:cNvSpPr>
            <a:spLocks noGrp="1"/>
          </p:cNvSpPr>
          <p:nvPr/>
        </p:nvSpPr>
        <p:spPr>
          <a:xfrm>
            <a:off x="6572250" y="1809750"/>
            <a:ext cx="4762500" cy="28575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Y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2358346-3DD5-4C1A-BEE8-B1E7D5ECDC01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Sin memoria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ECB23C0-372C-459E-8ECB-82ABBDF9E277}"/>
              </a:ext>
            </a:extLst>
          </p:cNvPr>
          <p:cNvSpPr>
            <a:spLocks noGrp="1"/>
          </p:cNvSpPr>
          <p:nvPr/>
        </p:nvSpPr>
        <p:spPr>
          <a:xfrm>
            <a:off x="6858000" y="2095500"/>
            <a:ext cx="1524000" cy="3238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 memoria</a:t>
            </a:r>
          </a:p>
        </p:txBody>
      </p:sp>
      <p:sp>
        <p:nvSpPr>
          <p:cNvPr id="9" name="without-copy">
            <a:extLst>
              <a:ext uri="{FF2B5EF4-FFF2-40B4-BE49-F238E27FC236}">
                <a16:creationId xmlns:a16="http://schemas.microsoft.com/office/drawing/2014/main" id="{BBD2BE9A-61E1-41F6-A84C-6D5076891E9C}"/>
              </a:ext>
            </a:extLst>
          </p:cNvPr>
          <p:cNvSpPr>
            <a:spLocks noGrp="1"/>
          </p:cNvSpPr>
          <p:nvPr/>
        </p:nvSpPr>
        <p:spPr>
          <a:xfrm>
            <a:off x="1143000" y="2667000"/>
            <a:ext cx="4095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El sistema responde solo con la consulta actual y lo recuperado del RAG.</a:t>
            </a:r>
          </a:p>
          <a:p>
            <a:endParaRPr sz="1725" b="0">
              <a:solidFill>
                <a:srgbClr val="475569"/>
              </a:solidFill>
              <a:latin typeface="Aptos"/>
              <a:ea typeface="Aptos"/>
              <a:cs typeface="Aptos"/>
            </a:endParaRPr>
          </a:p>
          <a:p>
            <a:pPr algn="l">
              <a:defRPr sz="17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Problema: pierde preferencias, contexto y continuidad entre sesiones.</a:t>
            </a:r>
          </a:p>
        </p:txBody>
      </p:sp>
      <p:sp>
        <p:nvSpPr>
          <p:cNvPr id="10" name="with-copy">
            <a:extLst>
              <a:ext uri="{FF2B5EF4-FFF2-40B4-BE49-F238E27FC236}">
                <a16:creationId xmlns:a16="http://schemas.microsoft.com/office/drawing/2014/main" id="{D6CAD6E1-A200-4393-BDE1-2C53B8BC862B}"/>
              </a:ext>
            </a:extLst>
          </p:cNvPr>
          <p:cNvSpPr>
            <a:spLocks noGrp="1"/>
          </p:cNvSpPr>
          <p:nvPr/>
        </p:nvSpPr>
        <p:spPr>
          <a:xfrm>
            <a:off x="6858000" y="2667000"/>
            <a:ext cx="4095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El agente puede recordar datos estables: gustos, restricciones, objetivos o preferencias.</a:t>
            </a:r>
          </a:p>
          <a:p>
            <a:endParaRPr sz="1725" b="0">
              <a:solidFill>
                <a:srgbClr val="475569"/>
              </a:solidFill>
              <a:latin typeface="Aptos"/>
              <a:ea typeface="Aptos"/>
              <a:cs typeface="Aptos"/>
            </a:endParaRPr>
          </a:p>
          <a:p>
            <a:pPr algn="l">
              <a:defRPr sz="17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Resultado: respuestas más personalizadas y consistentes.</a:t>
            </a:r>
          </a:p>
        </p:txBody>
      </p:sp>
      <p:sp>
        <p:nvSpPr>
          <p:cNvPr id="11" name="takeaway">
            <a:extLst>
              <a:ext uri="{FF2B5EF4-FFF2-40B4-BE49-F238E27FC236}">
                <a16:creationId xmlns:a16="http://schemas.microsoft.com/office/drawing/2014/main" id="{DCC9B791-4BEA-465C-A3D2-417C63F952D1}"/>
              </a:ext>
            </a:extLst>
          </p:cNvPr>
          <p:cNvSpPr>
            <a:spLocks noGrp="1"/>
          </p:cNvSpPr>
          <p:nvPr/>
        </p:nvSpPr>
        <p:spPr>
          <a:xfrm>
            <a:off x="1543050" y="5143500"/>
            <a:ext cx="914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Takeaway: la memoria agrega una segunda fuente de contexto al RAG.</a:t>
            </a:r>
          </a:p>
        </p:txBody>
      </p:sp>
    </p:spTree>
    <p:extLst>
      <p:ext uri="{BB962C8B-B14F-4D97-AF65-F5344CB8AC3E}">
        <p14:creationId xmlns:p14="http://schemas.microsoft.com/office/powerpoint/2010/main" val="1892984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kicker-3">
            <a:extLst>
              <a:ext uri="{FF2B5EF4-FFF2-40B4-BE49-F238E27FC236}">
                <a16:creationId xmlns:a16="http://schemas.microsoft.com/office/drawing/2014/main" id="{C5871CFC-7B9A-446D-94C6-DEB47E36E58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OBLIGATORIO TT2 · TEMA DE PRESENTACION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0CD9CDA4-DE6E-41EC-814B-A546A412917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Estrategias de memoria a largo plazo</a:t>
            </a:r>
          </a:p>
        </p:txBody>
      </p:sp>
      <p:sp>
        <p:nvSpPr>
          <p:cNvPr id="3" name="footer-3">
            <a:extLst>
              <a:ext uri="{FF2B5EF4-FFF2-40B4-BE49-F238E27FC236}">
                <a16:creationId xmlns:a16="http://schemas.microsoft.com/office/drawing/2014/main" id="{8110FCA9-F430-47C7-9D31-AA93F7E2703C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Memoria a largo plazo en Agentic RAG  |  Presentador 1</a:t>
            </a:r>
          </a:p>
        </p:txBody>
      </p:sp>
      <p:sp>
        <p:nvSpPr>
          <p:cNvPr id="4" name="page-3">
            <a:extLst>
              <a:ext uri="{FF2B5EF4-FFF2-40B4-BE49-F238E27FC236}">
                <a16:creationId xmlns:a16="http://schemas.microsoft.com/office/drawing/2014/main" id="{377F7109-4ADD-46E5-9228-47CD9C6F5408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" name="strategy-0">
            <a:extLst>
              <a:ext uri="{FF2B5EF4-FFF2-40B4-BE49-F238E27FC236}">
                <a16:creationId xmlns:a16="http://schemas.microsoft.com/office/drawing/2014/main" id="{77489D53-A594-44DD-A989-5DF3A740EEB5}"/>
              </a:ext>
            </a:extLst>
          </p:cNvPr>
          <p:cNvSpPr>
            <a:spLocks noGrp="1"/>
          </p:cNvSpPr>
          <p:nvPr/>
        </p:nvSpPr>
        <p:spPr>
          <a:xfrm>
            <a:off x="685800" y="1771650"/>
            <a:ext cx="2324100" cy="3238500"/>
          </a:xfrm>
          <a:prstGeom prst="roundRect">
            <a:avLst>
              <a:gd name="adj" fmla="val 90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Y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C089BEF-3AEE-470D-9093-21E89DB90F61}"/>
              </a:ext>
            </a:extLst>
          </p:cNvPr>
          <p:cNvSpPr>
            <a:spLocks noGrp="1"/>
          </p:cNvSpPr>
          <p:nvPr/>
        </p:nvSpPr>
        <p:spPr>
          <a:xfrm>
            <a:off x="914400" y="2057400"/>
            <a:ext cx="1866900" cy="3238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Historial completo</a:t>
            </a:r>
          </a:p>
        </p:txBody>
      </p:sp>
      <p:sp>
        <p:nvSpPr>
          <p:cNvPr id="7" name="strategy-body-0">
            <a:extLst>
              <a:ext uri="{FF2B5EF4-FFF2-40B4-BE49-F238E27FC236}">
                <a16:creationId xmlns:a16="http://schemas.microsoft.com/office/drawing/2014/main" id="{F4DA4D71-E3F7-48EF-AE55-C0A6A60CA4B0}"/>
              </a:ext>
            </a:extLst>
          </p:cNvPr>
          <p:cNvSpPr>
            <a:spLocks noGrp="1"/>
          </p:cNvSpPr>
          <p:nvPr/>
        </p:nvSpPr>
        <p:spPr>
          <a:xfrm>
            <a:off x="952500" y="2724150"/>
            <a:ext cx="17526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Guarda todo.</a:t>
            </a:r>
          </a:p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+ Máxima fidelidad</a:t>
            </a:r>
          </a:p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- Muy caro en tokens</a:t>
            </a:r>
          </a:p>
        </p:txBody>
      </p:sp>
      <p:sp>
        <p:nvSpPr>
          <p:cNvPr id="8" name="strategy-1">
            <a:extLst>
              <a:ext uri="{FF2B5EF4-FFF2-40B4-BE49-F238E27FC236}">
                <a16:creationId xmlns:a16="http://schemas.microsoft.com/office/drawing/2014/main" id="{A1D515F9-D9BB-4FCB-8B41-8B8E982AAABE}"/>
              </a:ext>
            </a:extLst>
          </p:cNvPr>
          <p:cNvSpPr>
            <a:spLocks noGrp="1"/>
          </p:cNvSpPr>
          <p:nvPr/>
        </p:nvSpPr>
        <p:spPr>
          <a:xfrm>
            <a:off x="3390900" y="1771650"/>
            <a:ext cx="2324100" cy="3238500"/>
          </a:xfrm>
          <a:prstGeom prst="roundRect">
            <a:avLst>
              <a:gd name="adj" fmla="val 90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Y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EEDEA84-7D7D-445C-9FF2-2A08F01AED5F}"/>
              </a:ext>
            </a:extLst>
          </p:cNvPr>
          <p:cNvSpPr>
            <a:spLocks noGrp="1"/>
          </p:cNvSpPr>
          <p:nvPr/>
        </p:nvSpPr>
        <p:spPr>
          <a:xfrm>
            <a:off x="3619500" y="2057400"/>
            <a:ext cx="1866900" cy="3238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Resúmenes</a:t>
            </a:r>
          </a:p>
        </p:txBody>
      </p:sp>
      <p:sp>
        <p:nvSpPr>
          <p:cNvPr id="10" name="strategy-body-1">
            <a:extLst>
              <a:ext uri="{FF2B5EF4-FFF2-40B4-BE49-F238E27FC236}">
                <a16:creationId xmlns:a16="http://schemas.microsoft.com/office/drawing/2014/main" id="{13F3A37E-FBA9-4FD0-A5BB-CDAA1EA92C74}"/>
              </a:ext>
            </a:extLst>
          </p:cNvPr>
          <p:cNvSpPr>
            <a:spLocks noGrp="1"/>
          </p:cNvSpPr>
          <p:nvPr/>
        </p:nvSpPr>
        <p:spPr>
          <a:xfrm>
            <a:off x="3657600" y="2724150"/>
            <a:ext cx="17526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Compacta conversaciones.</a:t>
            </a:r>
          </a:p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+ Barato</a:t>
            </a:r>
          </a:p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- Puede perder detalles</a:t>
            </a:r>
          </a:p>
        </p:txBody>
      </p:sp>
      <p:sp>
        <p:nvSpPr>
          <p:cNvPr id="11" name="strategy-2">
            <a:extLst>
              <a:ext uri="{FF2B5EF4-FFF2-40B4-BE49-F238E27FC236}">
                <a16:creationId xmlns:a16="http://schemas.microsoft.com/office/drawing/2014/main" id="{8F972707-7938-47E1-AC2A-E08F9606F269}"/>
              </a:ext>
            </a:extLst>
          </p:cNvPr>
          <p:cNvSpPr>
            <a:spLocks noGrp="1"/>
          </p:cNvSpPr>
          <p:nvPr/>
        </p:nvSpPr>
        <p:spPr>
          <a:xfrm>
            <a:off x="6096000" y="1771650"/>
            <a:ext cx="2324100" cy="3238500"/>
          </a:xfrm>
          <a:prstGeom prst="roundRect">
            <a:avLst>
              <a:gd name="adj" fmla="val 90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Y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EC7E72C-BF5F-4E85-8C88-A7D88ABA34AF}"/>
              </a:ext>
            </a:extLst>
          </p:cNvPr>
          <p:cNvSpPr>
            <a:spLocks noGrp="1"/>
          </p:cNvSpPr>
          <p:nvPr/>
        </p:nvSpPr>
        <p:spPr>
          <a:xfrm>
            <a:off x="6324600" y="2057400"/>
            <a:ext cx="1866900" cy="3238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Memoria vectorial</a:t>
            </a:r>
          </a:p>
        </p:txBody>
      </p:sp>
      <p:sp>
        <p:nvSpPr>
          <p:cNvPr id="13" name="strategy-body-2">
            <a:extLst>
              <a:ext uri="{FF2B5EF4-FFF2-40B4-BE49-F238E27FC236}">
                <a16:creationId xmlns:a16="http://schemas.microsoft.com/office/drawing/2014/main" id="{9E4BB297-6816-4208-974F-5148296506B6}"/>
              </a:ext>
            </a:extLst>
          </p:cNvPr>
          <p:cNvSpPr>
            <a:spLocks noGrp="1"/>
          </p:cNvSpPr>
          <p:nvPr/>
        </p:nvSpPr>
        <p:spPr>
          <a:xfrm>
            <a:off x="6362700" y="2724150"/>
            <a:ext cx="17526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Busca recuerdos por significado.</a:t>
            </a:r>
          </a:p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+ Escalable</a:t>
            </a:r>
          </a:p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- Puede traer ruido</a:t>
            </a:r>
          </a:p>
        </p:txBody>
      </p:sp>
      <p:sp>
        <p:nvSpPr>
          <p:cNvPr id="14" name="strategy-3">
            <a:extLst>
              <a:ext uri="{FF2B5EF4-FFF2-40B4-BE49-F238E27FC236}">
                <a16:creationId xmlns:a16="http://schemas.microsoft.com/office/drawing/2014/main" id="{5643495F-C647-4B1F-8604-3BCB385E63D9}"/>
              </a:ext>
            </a:extLst>
          </p:cNvPr>
          <p:cNvSpPr>
            <a:spLocks noGrp="1"/>
          </p:cNvSpPr>
          <p:nvPr/>
        </p:nvSpPr>
        <p:spPr>
          <a:xfrm>
            <a:off x="8801100" y="1771650"/>
            <a:ext cx="2324100" cy="3238500"/>
          </a:xfrm>
          <a:prstGeom prst="roundRect">
            <a:avLst>
              <a:gd name="adj" fmla="val 90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Y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BB83E4F-FBA4-4214-8959-C0B720FC105C}"/>
              </a:ext>
            </a:extLst>
          </p:cNvPr>
          <p:cNvSpPr>
            <a:spLocks noGrp="1"/>
          </p:cNvSpPr>
          <p:nvPr/>
        </p:nvSpPr>
        <p:spPr>
          <a:xfrm>
            <a:off x="9029700" y="2057400"/>
            <a:ext cx="1866900" cy="3238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Datos estructurados</a:t>
            </a:r>
          </a:p>
        </p:txBody>
      </p:sp>
      <p:sp>
        <p:nvSpPr>
          <p:cNvPr id="16" name="strategy-body-3">
            <a:extLst>
              <a:ext uri="{FF2B5EF4-FFF2-40B4-BE49-F238E27FC236}">
                <a16:creationId xmlns:a16="http://schemas.microsoft.com/office/drawing/2014/main" id="{63865FE2-19F7-4BCA-A417-A4DEF53E4D48}"/>
              </a:ext>
            </a:extLst>
          </p:cNvPr>
          <p:cNvSpPr>
            <a:spLocks noGrp="1"/>
          </p:cNvSpPr>
          <p:nvPr/>
        </p:nvSpPr>
        <p:spPr>
          <a:xfrm>
            <a:off x="9067800" y="2724150"/>
            <a:ext cx="17526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Campos explícitos.</a:t>
            </a:r>
          </a:p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+ Preciso</a:t>
            </a:r>
          </a:p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- Menos flexible</a:t>
            </a:r>
          </a:p>
        </p:txBody>
      </p:sp>
      <p:sp>
        <p:nvSpPr>
          <p:cNvPr id="17" name="hybrid">
            <a:extLst>
              <a:ext uri="{FF2B5EF4-FFF2-40B4-BE49-F238E27FC236}">
                <a16:creationId xmlns:a16="http://schemas.microsoft.com/office/drawing/2014/main" id="{2AEB0C1D-C9F4-4BB0-84E0-0DD4FCB4B775}"/>
              </a:ext>
            </a:extLst>
          </p:cNvPr>
          <p:cNvSpPr>
            <a:spLocks noGrp="1"/>
          </p:cNvSpPr>
          <p:nvPr/>
        </p:nvSpPr>
        <p:spPr>
          <a:xfrm>
            <a:off x="1257300" y="5467350"/>
            <a:ext cx="967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En la práctica, lo más robusto suele ser una estrategia híbrida.</a:t>
            </a:r>
          </a:p>
        </p:txBody>
      </p:sp>
    </p:spTree>
    <p:extLst>
      <p:ext uri="{BB962C8B-B14F-4D97-AF65-F5344CB8AC3E}">
        <p14:creationId xmlns:p14="http://schemas.microsoft.com/office/powerpoint/2010/main" val="1885098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kicker-4">
            <a:extLst>
              <a:ext uri="{FF2B5EF4-FFF2-40B4-BE49-F238E27FC236}">
                <a16:creationId xmlns:a16="http://schemas.microsoft.com/office/drawing/2014/main" id="{F4431B6A-D687-4BD9-BFA0-CED08DCBE33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OBLIGATORIO TT2 · TEMA DE PRESENTACION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F0B26E98-FAB3-4D1B-85DB-0D27F074C3B5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Cómo la integramos con el pipeline RAG</a:t>
            </a:r>
          </a:p>
        </p:txBody>
      </p:sp>
      <p:sp>
        <p:nvSpPr>
          <p:cNvPr id="3" name="footer-4">
            <a:extLst>
              <a:ext uri="{FF2B5EF4-FFF2-40B4-BE49-F238E27FC236}">
                <a16:creationId xmlns:a16="http://schemas.microsoft.com/office/drawing/2014/main" id="{FBD0DFB3-88F9-43A1-A8AA-B50099769FDA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Memoria a largo plazo en Agentic RAG  |  Presentador 2</a:t>
            </a:r>
          </a:p>
        </p:txBody>
      </p:sp>
      <p:sp>
        <p:nvSpPr>
          <p:cNvPr id="4" name="page-4">
            <a:extLst>
              <a:ext uri="{FF2B5EF4-FFF2-40B4-BE49-F238E27FC236}">
                <a16:creationId xmlns:a16="http://schemas.microsoft.com/office/drawing/2014/main" id="{5C9547EA-0A1E-48A7-94E0-E65F55E3CFD7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" name="pipe-0">
            <a:extLst>
              <a:ext uri="{FF2B5EF4-FFF2-40B4-BE49-F238E27FC236}">
                <a16:creationId xmlns:a16="http://schemas.microsoft.com/office/drawing/2014/main" id="{191D320C-1DF0-4DFE-ABFD-26F98D015F1E}"/>
              </a:ext>
            </a:extLst>
          </p:cNvPr>
          <p:cNvSpPr>
            <a:spLocks noGrp="1"/>
          </p:cNvSpPr>
          <p:nvPr/>
        </p:nvSpPr>
        <p:spPr>
          <a:xfrm>
            <a:off x="571500" y="2247900"/>
            <a:ext cx="1809750" cy="1524000"/>
          </a:xfrm>
          <a:prstGeom prst="roundRect">
            <a:avLst>
              <a:gd name="adj" fmla="val 13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Y"/>
          </a:p>
        </p:txBody>
      </p:sp>
      <p:sp>
        <p:nvSpPr>
          <p:cNvPr id="6" name="pipe-title-0">
            <a:extLst>
              <a:ext uri="{FF2B5EF4-FFF2-40B4-BE49-F238E27FC236}">
                <a16:creationId xmlns:a16="http://schemas.microsoft.com/office/drawing/2014/main" id="{B2F4D20A-9731-4EFC-A70D-33A5D002C7C6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Mensaje</a:t>
            </a:r>
          </a:p>
        </p:txBody>
      </p:sp>
      <p:sp>
        <p:nvSpPr>
          <p:cNvPr id="7" name="pipe-body-0">
            <a:extLst>
              <a:ext uri="{FF2B5EF4-FFF2-40B4-BE49-F238E27FC236}">
                <a16:creationId xmlns:a16="http://schemas.microsoft.com/office/drawing/2014/main" id="{10D8FF85-DCD0-42A2-BF0A-516D1A80F56A}"/>
              </a:ext>
            </a:extLst>
          </p:cNvPr>
          <p:cNvSpPr>
            <a:spLocks noGrp="1"/>
          </p:cNvSpPr>
          <p:nvPr/>
        </p:nvSpPr>
        <p:spPr>
          <a:xfrm>
            <a:off x="742950" y="2744638"/>
            <a:ext cx="1371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El usuario pregunta o da información personal.</a:t>
            </a:r>
          </a:p>
        </p:txBody>
      </p:sp>
      <p:sp>
        <p:nvSpPr>
          <p:cNvPr id="8" name="pipe-arrow-0">
            <a:extLst>
              <a:ext uri="{FF2B5EF4-FFF2-40B4-BE49-F238E27FC236}">
                <a16:creationId xmlns:a16="http://schemas.microsoft.com/office/drawing/2014/main" id="{D525B96A-EAA5-4F8B-B51D-37DCA174461B}"/>
              </a:ext>
            </a:extLst>
          </p:cNvPr>
          <p:cNvSpPr>
            <a:spLocks noGrp="1"/>
          </p:cNvSpPr>
          <p:nvPr/>
        </p:nvSpPr>
        <p:spPr>
          <a:xfrm>
            <a:off x="2438400" y="2819400"/>
            <a:ext cx="34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pipe-1">
            <a:extLst>
              <a:ext uri="{FF2B5EF4-FFF2-40B4-BE49-F238E27FC236}">
                <a16:creationId xmlns:a16="http://schemas.microsoft.com/office/drawing/2014/main" id="{19D5EC29-F356-4437-A2C6-311153DF0B4E}"/>
              </a:ext>
            </a:extLst>
          </p:cNvPr>
          <p:cNvSpPr>
            <a:spLocks noGrp="1"/>
          </p:cNvSpPr>
          <p:nvPr/>
        </p:nvSpPr>
        <p:spPr>
          <a:xfrm>
            <a:off x="2838450" y="2247900"/>
            <a:ext cx="1809750" cy="1524000"/>
          </a:xfrm>
          <a:prstGeom prst="roundRect">
            <a:avLst>
              <a:gd name="adj" fmla="val 13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Y"/>
          </a:p>
        </p:txBody>
      </p:sp>
      <p:sp>
        <p:nvSpPr>
          <p:cNvPr id="10" name="pipe-title-1">
            <a:extLst>
              <a:ext uri="{FF2B5EF4-FFF2-40B4-BE49-F238E27FC236}">
                <a16:creationId xmlns:a16="http://schemas.microsoft.com/office/drawing/2014/main" id="{AC2D8A80-1737-42D2-AA06-499879829236}"/>
              </a:ext>
            </a:extLst>
          </p:cNvPr>
          <p:cNvSpPr>
            <a:spLocks noGrp="1"/>
          </p:cNvSpPr>
          <p:nvPr/>
        </p:nvSpPr>
        <p:spPr>
          <a:xfrm>
            <a:off x="3009900" y="247650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save</a:t>
            </a:r>
          </a:p>
          <a:p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11" name="pipe-body-1">
            <a:extLst>
              <a:ext uri="{FF2B5EF4-FFF2-40B4-BE49-F238E27FC236}">
                <a16:creationId xmlns:a16="http://schemas.microsoft.com/office/drawing/2014/main" id="{9CAB6AAE-116D-4B07-9706-88C2E15792B1}"/>
              </a:ext>
            </a:extLst>
          </p:cNvPr>
          <p:cNvSpPr>
            <a:spLocks noGrp="1"/>
          </p:cNvSpPr>
          <p:nvPr/>
        </p:nvSpPr>
        <p:spPr>
          <a:xfrm>
            <a:off x="3009900" y="2914650"/>
            <a:ext cx="1371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Si es un dato estable, el agente lo guarda.</a:t>
            </a:r>
          </a:p>
        </p:txBody>
      </p:sp>
      <p:sp>
        <p:nvSpPr>
          <p:cNvPr id="12" name="pipe-arrow-1">
            <a:extLst>
              <a:ext uri="{FF2B5EF4-FFF2-40B4-BE49-F238E27FC236}">
                <a16:creationId xmlns:a16="http://schemas.microsoft.com/office/drawing/2014/main" id="{A0519A07-DAF4-46C8-9253-4C026B065C87}"/>
              </a:ext>
            </a:extLst>
          </p:cNvPr>
          <p:cNvSpPr>
            <a:spLocks noGrp="1"/>
          </p:cNvSpPr>
          <p:nvPr/>
        </p:nvSpPr>
        <p:spPr>
          <a:xfrm>
            <a:off x="4705350" y="2819400"/>
            <a:ext cx="34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pipe-2">
            <a:extLst>
              <a:ext uri="{FF2B5EF4-FFF2-40B4-BE49-F238E27FC236}">
                <a16:creationId xmlns:a16="http://schemas.microsoft.com/office/drawing/2014/main" id="{345C0DD1-C705-4901-970F-9437D1C13F15}"/>
              </a:ext>
            </a:extLst>
          </p:cNvPr>
          <p:cNvSpPr>
            <a:spLocks noGrp="1"/>
          </p:cNvSpPr>
          <p:nvPr/>
        </p:nvSpPr>
        <p:spPr>
          <a:xfrm>
            <a:off x="5105400" y="2247900"/>
            <a:ext cx="1809750" cy="1524000"/>
          </a:xfrm>
          <a:prstGeom prst="roundRect">
            <a:avLst>
              <a:gd name="adj" fmla="val 13750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Y"/>
          </a:p>
        </p:txBody>
      </p:sp>
      <p:sp>
        <p:nvSpPr>
          <p:cNvPr id="14" name="pipe-title-2">
            <a:extLst>
              <a:ext uri="{FF2B5EF4-FFF2-40B4-BE49-F238E27FC236}">
                <a16:creationId xmlns:a16="http://schemas.microsoft.com/office/drawing/2014/main" id="{94A25149-89AD-4705-8531-CC0D50BC207F}"/>
              </a:ext>
            </a:extLst>
          </p:cNvPr>
          <p:cNvSpPr>
            <a:spLocks noGrp="1"/>
          </p:cNvSpPr>
          <p:nvPr/>
        </p:nvSpPr>
        <p:spPr>
          <a:xfrm>
            <a:off x="5276850" y="247650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Pinecone</a:t>
            </a:r>
          </a:p>
        </p:txBody>
      </p:sp>
      <p:sp>
        <p:nvSpPr>
          <p:cNvPr id="15" name="pipe-body-2">
            <a:extLst>
              <a:ext uri="{FF2B5EF4-FFF2-40B4-BE49-F238E27FC236}">
                <a16:creationId xmlns:a16="http://schemas.microsoft.com/office/drawing/2014/main" id="{9BDD4E8A-6F06-4381-AA12-4136158D09B9}"/>
              </a:ext>
            </a:extLst>
          </p:cNvPr>
          <p:cNvSpPr>
            <a:spLocks noGrp="1"/>
          </p:cNvSpPr>
          <p:nvPr/>
        </p:nvSpPr>
        <p:spPr>
          <a:xfrm>
            <a:off x="5286375" y="2743919"/>
            <a:ext cx="1371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El recuerdo queda como vector en un namespace del usuario.</a:t>
            </a:r>
          </a:p>
        </p:txBody>
      </p:sp>
      <p:sp>
        <p:nvSpPr>
          <p:cNvPr id="16" name="pipe-arrow-2">
            <a:extLst>
              <a:ext uri="{FF2B5EF4-FFF2-40B4-BE49-F238E27FC236}">
                <a16:creationId xmlns:a16="http://schemas.microsoft.com/office/drawing/2014/main" id="{01227847-9C84-4DC5-992B-9AC0B8786804}"/>
              </a:ext>
            </a:extLst>
          </p:cNvPr>
          <p:cNvSpPr>
            <a:spLocks noGrp="1"/>
          </p:cNvSpPr>
          <p:nvPr/>
        </p:nvSpPr>
        <p:spPr>
          <a:xfrm>
            <a:off x="6972300" y="2819400"/>
            <a:ext cx="34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pipe-3">
            <a:extLst>
              <a:ext uri="{FF2B5EF4-FFF2-40B4-BE49-F238E27FC236}">
                <a16:creationId xmlns:a16="http://schemas.microsoft.com/office/drawing/2014/main" id="{E2681C43-978C-445F-9214-E827EAF9B035}"/>
              </a:ext>
            </a:extLst>
          </p:cNvPr>
          <p:cNvSpPr>
            <a:spLocks noGrp="1"/>
          </p:cNvSpPr>
          <p:nvPr/>
        </p:nvSpPr>
        <p:spPr>
          <a:xfrm>
            <a:off x="7372350" y="2247900"/>
            <a:ext cx="1809750" cy="1524000"/>
          </a:xfrm>
          <a:prstGeom prst="roundRect">
            <a:avLst>
              <a:gd name="adj" fmla="val 13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Y"/>
          </a:p>
        </p:txBody>
      </p:sp>
      <p:sp>
        <p:nvSpPr>
          <p:cNvPr id="18" name="pipe-title-3">
            <a:extLst>
              <a:ext uri="{FF2B5EF4-FFF2-40B4-BE49-F238E27FC236}">
                <a16:creationId xmlns:a16="http://schemas.microsoft.com/office/drawing/2014/main" id="{AB60097D-A41F-4E86-88BB-B0CE6150F7F4}"/>
              </a:ext>
            </a:extLst>
          </p:cNvPr>
          <p:cNvSpPr>
            <a:spLocks noGrp="1"/>
          </p:cNvSpPr>
          <p:nvPr/>
        </p:nvSpPr>
        <p:spPr>
          <a:xfrm>
            <a:off x="7543800" y="247650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recall</a:t>
            </a:r>
          </a:p>
          <a:p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19" name="pipe-body-3">
            <a:extLst>
              <a:ext uri="{FF2B5EF4-FFF2-40B4-BE49-F238E27FC236}">
                <a16:creationId xmlns:a16="http://schemas.microsoft.com/office/drawing/2014/main" id="{B4BD3EC5-EFD6-4732-835E-5252D2D76CED}"/>
              </a:ext>
            </a:extLst>
          </p:cNvPr>
          <p:cNvSpPr>
            <a:spLocks noGrp="1"/>
          </p:cNvSpPr>
          <p:nvPr/>
        </p:nvSpPr>
        <p:spPr>
          <a:xfrm>
            <a:off x="7543800" y="2914650"/>
            <a:ext cx="1371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En otra consulta, se recuperan recuerdos relevantes.</a:t>
            </a:r>
          </a:p>
        </p:txBody>
      </p:sp>
      <p:sp>
        <p:nvSpPr>
          <p:cNvPr id="20" name="pipe-arrow-3">
            <a:extLst>
              <a:ext uri="{FF2B5EF4-FFF2-40B4-BE49-F238E27FC236}">
                <a16:creationId xmlns:a16="http://schemas.microsoft.com/office/drawing/2014/main" id="{11AFA7C8-1F29-4355-AC87-08BBAF26AF2A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34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pipe-4">
            <a:extLst>
              <a:ext uri="{FF2B5EF4-FFF2-40B4-BE49-F238E27FC236}">
                <a16:creationId xmlns:a16="http://schemas.microsoft.com/office/drawing/2014/main" id="{548998E6-9E4A-406C-AA92-FC3293425B74}"/>
              </a:ext>
            </a:extLst>
          </p:cNvPr>
          <p:cNvSpPr>
            <a:spLocks noGrp="1"/>
          </p:cNvSpPr>
          <p:nvPr/>
        </p:nvSpPr>
        <p:spPr>
          <a:xfrm>
            <a:off x="9639300" y="2247900"/>
            <a:ext cx="1809750" cy="1524000"/>
          </a:xfrm>
          <a:prstGeom prst="roundRect">
            <a:avLst>
              <a:gd name="adj" fmla="val 13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Y"/>
          </a:p>
        </p:txBody>
      </p:sp>
      <p:sp>
        <p:nvSpPr>
          <p:cNvPr id="22" name="pipe-title-4">
            <a:extLst>
              <a:ext uri="{FF2B5EF4-FFF2-40B4-BE49-F238E27FC236}">
                <a16:creationId xmlns:a16="http://schemas.microsoft.com/office/drawing/2014/main" id="{BFBA53B5-9A25-481D-83F3-4A7785BC5112}"/>
              </a:ext>
            </a:extLst>
          </p:cNvPr>
          <p:cNvSpPr>
            <a:spLocks noGrp="1"/>
          </p:cNvSpPr>
          <p:nvPr/>
        </p:nvSpPr>
        <p:spPr>
          <a:xfrm>
            <a:off x="9810750" y="247650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Respuesta</a:t>
            </a:r>
          </a:p>
        </p:txBody>
      </p:sp>
      <p:sp>
        <p:nvSpPr>
          <p:cNvPr id="23" name="pipe-body-4">
            <a:extLst>
              <a:ext uri="{FF2B5EF4-FFF2-40B4-BE49-F238E27FC236}">
                <a16:creationId xmlns:a16="http://schemas.microsoft.com/office/drawing/2014/main" id="{E4595A27-5BAD-40AC-94C3-601DAA7331DE}"/>
              </a:ext>
            </a:extLst>
          </p:cNvPr>
          <p:cNvSpPr>
            <a:spLocks noGrp="1"/>
          </p:cNvSpPr>
          <p:nvPr/>
        </p:nvSpPr>
        <p:spPr>
          <a:xfrm>
            <a:off x="9810750" y="2914650"/>
            <a:ext cx="1371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El LLM combina memoria + RAG + pregunta actual.</a:t>
            </a:r>
          </a:p>
        </p:txBody>
      </p:sp>
      <p:sp>
        <p:nvSpPr>
          <p:cNvPr id="24" name="namespace">
            <a:extLst>
              <a:ext uri="{FF2B5EF4-FFF2-40B4-BE49-F238E27FC236}">
                <a16:creationId xmlns:a16="http://schemas.microsoft.com/office/drawing/2014/main" id="{26FE3797-7214-48D1-9975-93A1390F92C2}"/>
              </a:ext>
            </a:extLst>
          </p:cNvPr>
          <p:cNvSpPr>
            <a:spLocks noGrp="1"/>
          </p:cNvSpPr>
          <p:nvPr/>
        </p:nvSpPr>
        <p:spPr>
          <a:xfrm>
            <a:off x="1200150" y="4762500"/>
            <a:ext cx="9791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Clave técnica: separar la memoria por usuario evita mezclar información entre Alice, Bob u otros usuarios.</a:t>
            </a:r>
          </a:p>
        </p:txBody>
      </p:sp>
    </p:spTree>
    <p:extLst>
      <p:ext uri="{BB962C8B-B14F-4D97-AF65-F5344CB8AC3E}">
        <p14:creationId xmlns:p14="http://schemas.microsoft.com/office/powerpoint/2010/main" val="596510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kicker-5">
            <a:extLst>
              <a:ext uri="{FF2B5EF4-FFF2-40B4-BE49-F238E27FC236}">
                <a16:creationId xmlns:a16="http://schemas.microsoft.com/office/drawing/2014/main" id="{ECDEE899-C8AA-49FA-ACB9-C2E84F46A2B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OBLIGATORIO TT2 · TEMA DE PRESENTACION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9B82FAC7-2E25-42EF-935A-6A5C277083B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Nuestra implementación en el notebook</a:t>
            </a:r>
          </a:p>
        </p:txBody>
      </p:sp>
      <p:sp>
        <p:nvSpPr>
          <p:cNvPr id="3" name="footer-5">
            <a:extLst>
              <a:ext uri="{FF2B5EF4-FFF2-40B4-BE49-F238E27FC236}">
                <a16:creationId xmlns:a16="http://schemas.microsoft.com/office/drawing/2014/main" id="{6904A492-484A-42E4-9B1F-9B889FF43727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Memoria a largo plazo en Agentic RAG  |  Presentador 2</a:t>
            </a:r>
          </a:p>
        </p:txBody>
      </p:sp>
      <p:sp>
        <p:nvSpPr>
          <p:cNvPr id="4" name="page-5">
            <a:extLst>
              <a:ext uri="{FF2B5EF4-FFF2-40B4-BE49-F238E27FC236}">
                <a16:creationId xmlns:a16="http://schemas.microsoft.com/office/drawing/2014/main" id="{4CDF04DF-2E6C-47D9-AF84-7602C15B23FF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" name="impl-left">
            <a:extLst>
              <a:ext uri="{FF2B5EF4-FFF2-40B4-BE49-F238E27FC236}">
                <a16:creationId xmlns:a16="http://schemas.microsoft.com/office/drawing/2014/main" id="{C88C31D8-866F-4FD9-B280-C6686E6C5F16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4953000" cy="3257550"/>
          </a:xfrm>
          <a:prstGeom prst="roundRect">
            <a:avLst>
              <a:gd name="adj" fmla="val 64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Y"/>
          </a:p>
        </p:txBody>
      </p:sp>
      <p:sp>
        <p:nvSpPr>
          <p:cNvPr id="6" name="impl-right">
            <a:extLst>
              <a:ext uri="{FF2B5EF4-FFF2-40B4-BE49-F238E27FC236}">
                <a16:creationId xmlns:a16="http://schemas.microsoft.com/office/drawing/2014/main" id="{EAF10544-F025-4AB5-99EF-4507FB608D9E}"/>
              </a:ext>
            </a:extLst>
          </p:cNvPr>
          <p:cNvSpPr>
            <a:spLocks noGrp="1"/>
          </p:cNvSpPr>
          <p:nvPr/>
        </p:nvSpPr>
        <p:spPr>
          <a:xfrm>
            <a:off x="6457950" y="1695450"/>
            <a:ext cx="4953000" cy="3257550"/>
          </a:xfrm>
          <a:prstGeom prst="roundRect">
            <a:avLst>
              <a:gd name="adj" fmla="val 64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Y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94C74C1-7D3F-4B75-94D7-4E7CE1420D64}"/>
              </a:ext>
            </a:extLst>
          </p:cNvPr>
          <p:cNvSpPr>
            <a:spLocks noGrp="1"/>
          </p:cNvSpPr>
          <p:nvPr/>
        </p:nvSpPr>
        <p:spPr>
          <a:xfrm>
            <a:off x="1123950" y="1981200"/>
            <a:ext cx="1524000" cy="3238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 vectorial</a:t>
            </a:r>
          </a:p>
        </p:txBody>
      </p:sp>
      <p:sp>
        <p:nvSpPr>
          <p:cNvPr id="8" name="impl-left-text">
            <a:extLst>
              <a:ext uri="{FF2B5EF4-FFF2-40B4-BE49-F238E27FC236}">
                <a16:creationId xmlns:a16="http://schemas.microsoft.com/office/drawing/2014/main" id="{E34DFE41-C9EC-48E6-A2A6-24DF8B0F7676}"/>
              </a:ext>
            </a:extLst>
          </p:cNvPr>
          <p:cNvSpPr>
            <a:spLocks noGrp="1"/>
          </p:cNvSpPr>
          <p:nvPr/>
        </p:nvSpPr>
        <p:spPr>
          <a:xfrm>
            <a:off x="1123950" y="2495550"/>
            <a:ext cx="4000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Pinecone</a:t>
            </a:r>
          </a:p>
          <a:p>
            <a:endParaRPr sz="1725" b="0">
              <a:solidFill>
                <a:srgbClr val="475569"/>
              </a:solidFill>
              <a:latin typeface="Aptos"/>
              <a:ea typeface="Aptos"/>
              <a:cs typeface="Aptos"/>
            </a:endParaRPr>
          </a:p>
          <a:p>
            <a:pPr algn="l">
              <a:defRPr sz="17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recipes: 30.000 vectores</a:t>
            </a:r>
          </a:p>
          <a:p>
            <a:pPr algn="l">
              <a:defRPr sz="17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papers: 2.649 chunks</a:t>
            </a:r>
          </a:p>
          <a:p>
            <a:pPr algn="l">
              <a:defRPr sz="17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memory_alice: recuerdos del usuario</a:t>
            </a:r>
          </a:p>
          <a:p>
            <a:pPr algn="l">
              <a:defRPr sz="17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namespaces separados por tipo y usuario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767D386-5BA5-4458-8DF3-B8E57E9B31EF}"/>
              </a:ext>
            </a:extLst>
          </p:cNvPr>
          <p:cNvSpPr>
            <a:spLocks noGrp="1"/>
          </p:cNvSpPr>
          <p:nvPr/>
        </p:nvSpPr>
        <p:spPr>
          <a:xfrm>
            <a:off x="6800850" y="19812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Tools del agente</a:t>
            </a:r>
          </a:p>
        </p:txBody>
      </p:sp>
      <p:sp>
        <p:nvSpPr>
          <p:cNvPr id="10" name="impl-right-text">
            <a:extLst>
              <a:ext uri="{FF2B5EF4-FFF2-40B4-BE49-F238E27FC236}">
                <a16:creationId xmlns:a16="http://schemas.microsoft.com/office/drawing/2014/main" id="{B6CC0F84-0FA5-4DD5-83B7-44CE60118857}"/>
              </a:ext>
            </a:extLst>
          </p:cNvPr>
          <p:cNvSpPr>
            <a:spLocks noGrp="1"/>
          </p:cNvSpPr>
          <p:nvPr/>
        </p:nvSpPr>
        <p:spPr>
          <a:xfrm>
            <a:off x="6800850" y="2495550"/>
            <a:ext cx="4000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save_memory(text)</a:t>
            </a:r>
          </a:p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Guarda un recuerdo estable.</a:t>
            </a:r>
          </a:p>
          <a:p>
            <a:endParaRPr sz="1650" b="0">
              <a:solidFill>
                <a:srgbClr val="475569"/>
              </a:solidFill>
              <a:latin typeface="Aptos"/>
              <a:ea typeface="Aptos"/>
              <a:cs typeface="Aptos"/>
            </a:endParaRPr>
          </a:p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recall_memory(query)</a:t>
            </a:r>
          </a:p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Recupera recuerdos relevantes.</a:t>
            </a:r>
          </a:p>
          <a:p>
            <a:endParaRPr sz="1650" b="0">
              <a:solidFill>
                <a:srgbClr val="475569"/>
              </a:solidFill>
              <a:latin typeface="Aptos"/>
              <a:ea typeface="Aptos"/>
              <a:cs typeface="Aptos"/>
            </a:endParaRPr>
          </a:p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Ambas tools son llamadas por el agente LangGraph.</a:t>
            </a:r>
          </a:p>
        </p:txBody>
      </p:sp>
      <p:sp>
        <p:nvSpPr>
          <p:cNvPr id="11" name="implementation-warning">
            <a:extLst>
              <a:ext uri="{FF2B5EF4-FFF2-40B4-BE49-F238E27FC236}">
                <a16:creationId xmlns:a16="http://schemas.microsoft.com/office/drawing/2014/main" id="{9A7703D4-7C40-4FDD-B2C9-964F8EC6287B}"/>
              </a:ext>
            </a:extLst>
          </p:cNvPr>
          <p:cNvSpPr>
            <a:spLocks noGrp="1"/>
          </p:cNvSpPr>
          <p:nvPr/>
        </p:nvSpPr>
        <p:spPr>
          <a:xfrm>
            <a:off x="1524000" y="5429250"/>
            <a:ext cx="914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Estado actual: funciona como prototipo, pero hay que controlar duplicados y mejorar la validación de respuestas.</a:t>
            </a:r>
          </a:p>
        </p:txBody>
      </p:sp>
    </p:spTree>
    <p:extLst>
      <p:ext uri="{BB962C8B-B14F-4D97-AF65-F5344CB8AC3E}">
        <p14:creationId xmlns:p14="http://schemas.microsoft.com/office/powerpoint/2010/main" val="196388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kicker-6">
            <a:extLst>
              <a:ext uri="{FF2B5EF4-FFF2-40B4-BE49-F238E27FC236}">
                <a16:creationId xmlns:a16="http://schemas.microsoft.com/office/drawing/2014/main" id="{E1CBA59F-1BD8-498D-8268-A14C957D6B9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OBLIGATORIO TT2 · TEMA DE PRESENTACION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31D4AC17-0EA8-4469-B075-941865196E9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Impacto: calidad, costo y coherencia</a:t>
            </a:r>
          </a:p>
        </p:txBody>
      </p:sp>
      <p:sp>
        <p:nvSpPr>
          <p:cNvPr id="3" name="footer-6">
            <a:extLst>
              <a:ext uri="{FF2B5EF4-FFF2-40B4-BE49-F238E27FC236}">
                <a16:creationId xmlns:a16="http://schemas.microsoft.com/office/drawing/2014/main" id="{738852BC-D0B2-44DE-AC58-25643C0897E0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Memoria a largo plazo en Agentic RAG  |  Presentador 3</a:t>
            </a:r>
          </a:p>
        </p:txBody>
      </p:sp>
      <p:sp>
        <p:nvSpPr>
          <p:cNvPr id="4" name="page-6">
            <a:extLst>
              <a:ext uri="{FF2B5EF4-FFF2-40B4-BE49-F238E27FC236}">
                <a16:creationId xmlns:a16="http://schemas.microsoft.com/office/drawing/2014/main" id="{EBF85CC3-AC14-4A55-8A4B-5E5FCF605DC2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" name="impact-row-0">
            <a:extLst>
              <a:ext uri="{FF2B5EF4-FFF2-40B4-BE49-F238E27FC236}">
                <a16:creationId xmlns:a16="http://schemas.microsoft.com/office/drawing/2014/main" id="{91AC77C3-CDF6-46E3-88F6-E488CD282456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0401300" cy="933450"/>
          </a:xfrm>
          <a:prstGeom prst="roundRect">
            <a:avLst>
              <a:gd name="adj" fmla="val 2244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Y"/>
          </a:p>
        </p:txBody>
      </p:sp>
      <p:sp>
        <p:nvSpPr>
          <p:cNvPr id="6" name="impact-name-0">
            <a:extLst>
              <a:ext uri="{FF2B5EF4-FFF2-40B4-BE49-F238E27FC236}">
                <a16:creationId xmlns:a16="http://schemas.microsoft.com/office/drawing/2014/main" id="{4C6008B5-3015-4A99-BC3A-E12361735080}"/>
              </a:ext>
            </a:extLst>
          </p:cNvPr>
          <p:cNvSpPr>
            <a:spLocks noGrp="1"/>
          </p:cNvSpPr>
          <p:nvPr/>
        </p:nvSpPr>
        <p:spPr>
          <a:xfrm>
            <a:off x="1257300" y="19240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Calidad</a:t>
            </a:r>
          </a:p>
        </p:txBody>
      </p:sp>
      <p:sp>
        <p:nvSpPr>
          <p:cNvPr id="7" name="impact-plus-0">
            <a:extLst>
              <a:ext uri="{FF2B5EF4-FFF2-40B4-BE49-F238E27FC236}">
                <a16:creationId xmlns:a16="http://schemas.microsoft.com/office/drawing/2014/main" id="{DEAA8C93-F319-40C0-B5C2-D5E91B8AB302}"/>
              </a:ext>
            </a:extLst>
          </p:cNvPr>
          <p:cNvSpPr>
            <a:spLocks noGrp="1"/>
          </p:cNvSpPr>
          <p:nvPr/>
        </p:nvSpPr>
        <p:spPr>
          <a:xfrm>
            <a:off x="3333750" y="18669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+ Mejora personalización y relevancia</a:t>
            </a:r>
          </a:p>
        </p:txBody>
      </p:sp>
      <p:sp>
        <p:nvSpPr>
          <p:cNvPr id="8" name="impact-minus-0">
            <a:extLst>
              <a:ext uri="{FF2B5EF4-FFF2-40B4-BE49-F238E27FC236}">
                <a16:creationId xmlns:a16="http://schemas.microsoft.com/office/drawing/2014/main" id="{C638B5F0-8753-434D-AD60-BF026126DA87}"/>
              </a:ext>
            </a:extLst>
          </p:cNvPr>
          <p:cNvSpPr>
            <a:spLocks noGrp="1"/>
          </p:cNvSpPr>
          <p:nvPr/>
        </p:nvSpPr>
        <p:spPr>
          <a:xfrm>
            <a:off x="6953250" y="186690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- Riesgo de usar recuerdos incorrectos</a:t>
            </a:r>
          </a:p>
        </p:txBody>
      </p:sp>
      <p:sp>
        <p:nvSpPr>
          <p:cNvPr id="9" name="impact-row-1">
            <a:extLst>
              <a:ext uri="{FF2B5EF4-FFF2-40B4-BE49-F238E27FC236}">
                <a16:creationId xmlns:a16="http://schemas.microsoft.com/office/drawing/2014/main" id="{518FBFEC-0759-4CF5-93A3-B4A0C5B414FB}"/>
              </a:ext>
            </a:extLst>
          </p:cNvPr>
          <p:cNvSpPr>
            <a:spLocks noGrp="1"/>
          </p:cNvSpPr>
          <p:nvPr/>
        </p:nvSpPr>
        <p:spPr>
          <a:xfrm>
            <a:off x="895350" y="2914650"/>
            <a:ext cx="10401300" cy="933450"/>
          </a:xfrm>
          <a:prstGeom prst="roundRect">
            <a:avLst>
              <a:gd name="adj" fmla="val 2244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Y"/>
          </a:p>
        </p:txBody>
      </p:sp>
      <p:sp>
        <p:nvSpPr>
          <p:cNvPr id="10" name="impact-name-1">
            <a:extLst>
              <a:ext uri="{FF2B5EF4-FFF2-40B4-BE49-F238E27FC236}">
                <a16:creationId xmlns:a16="http://schemas.microsoft.com/office/drawing/2014/main" id="{1FEDA64A-B64C-4521-9BDF-9880C7E60338}"/>
              </a:ext>
            </a:extLst>
          </p:cNvPr>
          <p:cNvSpPr>
            <a:spLocks noGrp="1"/>
          </p:cNvSpPr>
          <p:nvPr/>
        </p:nvSpPr>
        <p:spPr>
          <a:xfrm>
            <a:off x="1257300" y="31813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Costo</a:t>
            </a:r>
          </a:p>
        </p:txBody>
      </p:sp>
      <p:sp>
        <p:nvSpPr>
          <p:cNvPr id="11" name="impact-plus-1">
            <a:extLst>
              <a:ext uri="{FF2B5EF4-FFF2-40B4-BE49-F238E27FC236}">
                <a16:creationId xmlns:a16="http://schemas.microsoft.com/office/drawing/2014/main" id="{B240086A-F34E-4DAB-8B85-9EA2F12F961B}"/>
              </a:ext>
            </a:extLst>
          </p:cNvPr>
          <p:cNvSpPr>
            <a:spLocks noGrp="1"/>
          </p:cNvSpPr>
          <p:nvPr/>
        </p:nvSpPr>
        <p:spPr>
          <a:xfrm>
            <a:off x="3333750" y="31242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+ Reduce repreguntas y contexto repetido</a:t>
            </a:r>
          </a:p>
        </p:txBody>
      </p:sp>
      <p:sp>
        <p:nvSpPr>
          <p:cNvPr id="12" name="impact-minus-1">
            <a:extLst>
              <a:ext uri="{FF2B5EF4-FFF2-40B4-BE49-F238E27FC236}">
                <a16:creationId xmlns:a16="http://schemas.microsoft.com/office/drawing/2014/main" id="{89DA5FE3-737E-45C4-AC52-56A1C8C2BB39}"/>
              </a:ext>
            </a:extLst>
          </p:cNvPr>
          <p:cNvSpPr>
            <a:spLocks noGrp="1"/>
          </p:cNvSpPr>
          <p:nvPr/>
        </p:nvSpPr>
        <p:spPr>
          <a:xfrm>
            <a:off x="6953250" y="312420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- Agrega embeddings, búsquedas y tokens</a:t>
            </a:r>
          </a:p>
        </p:txBody>
      </p:sp>
      <p:sp>
        <p:nvSpPr>
          <p:cNvPr id="13" name="impact-row-2">
            <a:extLst>
              <a:ext uri="{FF2B5EF4-FFF2-40B4-BE49-F238E27FC236}">
                <a16:creationId xmlns:a16="http://schemas.microsoft.com/office/drawing/2014/main" id="{BC252A44-8DC7-4A61-A28E-4DF01424D4F6}"/>
              </a:ext>
            </a:extLst>
          </p:cNvPr>
          <p:cNvSpPr>
            <a:spLocks noGrp="1"/>
          </p:cNvSpPr>
          <p:nvPr/>
        </p:nvSpPr>
        <p:spPr>
          <a:xfrm>
            <a:off x="895350" y="4171950"/>
            <a:ext cx="10401300" cy="933450"/>
          </a:xfrm>
          <a:prstGeom prst="roundRect">
            <a:avLst>
              <a:gd name="adj" fmla="val 2244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Y"/>
          </a:p>
        </p:txBody>
      </p:sp>
      <p:sp>
        <p:nvSpPr>
          <p:cNvPr id="14" name="impact-name-2">
            <a:extLst>
              <a:ext uri="{FF2B5EF4-FFF2-40B4-BE49-F238E27FC236}">
                <a16:creationId xmlns:a16="http://schemas.microsoft.com/office/drawing/2014/main" id="{F3D8B0F2-29F8-4FE9-ABBA-ED62F2BFD0A4}"/>
              </a:ext>
            </a:extLst>
          </p:cNvPr>
          <p:cNvSpPr>
            <a:spLocks noGrp="1"/>
          </p:cNvSpPr>
          <p:nvPr/>
        </p:nvSpPr>
        <p:spPr>
          <a:xfrm>
            <a:off x="1257300" y="44386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Coherencia</a:t>
            </a:r>
          </a:p>
        </p:txBody>
      </p:sp>
      <p:sp>
        <p:nvSpPr>
          <p:cNvPr id="15" name="impact-plus-2">
            <a:extLst>
              <a:ext uri="{FF2B5EF4-FFF2-40B4-BE49-F238E27FC236}">
                <a16:creationId xmlns:a16="http://schemas.microsoft.com/office/drawing/2014/main" id="{1B43E145-2A77-43A3-B1CD-AE65AD0A2732}"/>
              </a:ext>
            </a:extLst>
          </p:cNvPr>
          <p:cNvSpPr>
            <a:spLocks noGrp="1"/>
          </p:cNvSpPr>
          <p:nvPr/>
        </p:nvSpPr>
        <p:spPr>
          <a:xfrm>
            <a:off x="3333750" y="43815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+ Mantiene continuidad entre sesiones</a:t>
            </a:r>
          </a:p>
        </p:txBody>
      </p:sp>
      <p:sp>
        <p:nvSpPr>
          <p:cNvPr id="16" name="impact-minus-2">
            <a:extLst>
              <a:ext uri="{FF2B5EF4-FFF2-40B4-BE49-F238E27FC236}">
                <a16:creationId xmlns:a16="http://schemas.microsoft.com/office/drawing/2014/main" id="{FBDCC22E-06A9-49EC-A983-87436ED01271}"/>
              </a:ext>
            </a:extLst>
          </p:cNvPr>
          <p:cNvSpPr>
            <a:spLocks noGrp="1"/>
          </p:cNvSpPr>
          <p:nvPr/>
        </p:nvSpPr>
        <p:spPr>
          <a:xfrm>
            <a:off x="6953250" y="438150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- Puede amplificar errores si se guarda mal</a:t>
            </a:r>
          </a:p>
        </p:txBody>
      </p:sp>
      <p:sp>
        <p:nvSpPr>
          <p:cNvPr id="17" name="impact-bottom">
            <a:extLst>
              <a:ext uri="{FF2B5EF4-FFF2-40B4-BE49-F238E27FC236}">
                <a16:creationId xmlns:a16="http://schemas.microsoft.com/office/drawing/2014/main" id="{D8E16EE5-14B1-4482-8D97-24C8EF690FB2}"/>
              </a:ext>
            </a:extLst>
          </p:cNvPr>
          <p:cNvSpPr>
            <a:spLocks noGrp="1"/>
          </p:cNvSpPr>
          <p:nvPr/>
        </p:nvSpPr>
        <p:spPr>
          <a:xfrm>
            <a:off x="1314450" y="5581650"/>
            <a:ext cx="952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La memoria mejora el sistema si se recupera lo justo y se controla qué se guarda.</a:t>
            </a:r>
          </a:p>
        </p:txBody>
      </p:sp>
    </p:spTree>
    <p:extLst>
      <p:ext uri="{BB962C8B-B14F-4D97-AF65-F5344CB8AC3E}">
        <p14:creationId xmlns:p14="http://schemas.microsoft.com/office/powerpoint/2010/main" val="479646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kicker-7">
            <a:extLst>
              <a:ext uri="{FF2B5EF4-FFF2-40B4-BE49-F238E27FC236}">
                <a16:creationId xmlns:a16="http://schemas.microsoft.com/office/drawing/2014/main" id="{F121A563-187F-4353-A8AA-FE1EFB1D929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OBLIGATORIO TT2 · TEMA DE PRESENTACION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4560D31B-7F01-4072-9D66-7A434E5C9C6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Demo sugerida para mostrar</a:t>
            </a:r>
          </a:p>
        </p:txBody>
      </p:sp>
      <p:sp>
        <p:nvSpPr>
          <p:cNvPr id="3" name="footer-7">
            <a:extLst>
              <a:ext uri="{FF2B5EF4-FFF2-40B4-BE49-F238E27FC236}">
                <a16:creationId xmlns:a16="http://schemas.microsoft.com/office/drawing/2014/main" id="{834AB4D2-556F-4B55-9029-93093A7210C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Memoria a largo plazo en Agentic RAG  |  Presentador 3</a:t>
            </a:r>
          </a:p>
        </p:txBody>
      </p:sp>
      <p:sp>
        <p:nvSpPr>
          <p:cNvPr id="4" name="page-7">
            <a:extLst>
              <a:ext uri="{FF2B5EF4-FFF2-40B4-BE49-F238E27FC236}">
                <a16:creationId xmlns:a16="http://schemas.microsoft.com/office/drawing/2014/main" id="{A2459AEA-344B-4A27-BD93-BCCE35651400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" name="demo-a">
            <a:extLst>
              <a:ext uri="{FF2B5EF4-FFF2-40B4-BE49-F238E27FC236}">
                <a16:creationId xmlns:a16="http://schemas.microsoft.com/office/drawing/2014/main" id="{68AD028A-BAE9-47C9-8B73-74E1E7B2C38B}"/>
              </a:ext>
            </a:extLst>
          </p:cNvPr>
          <p:cNvSpPr>
            <a:spLocks noGrp="1"/>
          </p:cNvSpPr>
          <p:nvPr/>
        </p:nvSpPr>
        <p:spPr>
          <a:xfrm>
            <a:off x="1143000" y="1885950"/>
            <a:ext cx="2857500" cy="1619250"/>
          </a:xfrm>
          <a:prstGeom prst="roundRect">
            <a:avLst>
              <a:gd name="adj" fmla="val 12941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Y"/>
          </a:p>
        </p:txBody>
      </p:sp>
      <p:sp>
        <p:nvSpPr>
          <p:cNvPr id="6" name="demo-b">
            <a:extLst>
              <a:ext uri="{FF2B5EF4-FFF2-40B4-BE49-F238E27FC236}">
                <a16:creationId xmlns:a16="http://schemas.microsoft.com/office/drawing/2014/main" id="{E06FA59C-D72F-4144-979B-F53769361D4D}"/>
              </a:ext>
            </a:extLst>
          </p:cNvPr>
          <p:cNvSpPr>
            <a:spLocks noGrp="1"/>
          </p:cNvSpPr>
          <p:nvPr/>
        </p:nvSpPr>
        <p:spPr>
          <a:xfrm>
            <a:off x="4667250" y="1885950"/>
            <a:ext cx="2857500" cy="1619250"/>
          </a:xfrm>
          <a:prstGeom prst="roundRect">
            <a:avLst>
              <a:gd name="adj" fmla="val 12941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Y"/>
          </a:p>
        </p:txBody>
      </p:sp>
      <p:sp>
        <p:nvSpPr>
          <p:cNvPr id="7" name="demo-c">
            <a:extLst>
              <a:ext uri="{FF2B5EF4-FFF2-40B4-BE49-F238E27FC236}">
                <a16:creationId xmlns:a16="http://schemas.microsoft.com/office/drawing/2014/main" id="{FE317F7C-01E8-4E87-85D4-9196CA7B7311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1619250"/>
          </a:xfrm>
          <a:prstGeom prst="roundRect">
            <a:avLst>
              <a:gd name="adj" fmla="val 12941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Y"/>
          </a:p>
        </p:txBody>
      </p:sp>
      <p:sp>
        <p:nvSpPr>
          <p:cNvPr id="8" name="demo-a-title">
            <a:extLst>
              <a:ext uri="{FF2B5EF4-FFF2-40B4-BE49-F238E27FC236}">
                <a16:creationId xmlns:a16="http://schemas.microsoft.com/office/drawing/2014/main" id="{6A17087A-36D0-4EBE-A07D-9E3966C6552A}"/>
              </a:ext>
            </a:extLst>
          </p:cNvPr>
          <p:cNvSpPr>
            <a:spLocks noGrp="1"/>
          </p:cNvSpPr>
          <p:nvPr/>
        </p:nvSpPr>
        <p:spPr>
          <a:xfrm>
            <a:off x="1409700" y="21526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1. Alice declara</a:t>
            </a:r>
          </a:p>
        </p:txBody>
      </p:sp>
      <p:sp>
        <p:nvSpPr>
          <p:cNvPr id="9" name="demo-a-copy">
            <a:extLst>
              <a:ext uri="{FF2B5EF4-FFF2-40B4-BE49-F238E27FC236}">
                <a16:creationId xmlns:a16="http://schemas.microsoft.com/office/drawing/2014/main" id="{0078D334-1980-4AAB-BFA2-3903E767BC65}"/>
              </a:ext>
            </a:extLst>
          </p:cNvPr>
          <p:cNvSpPr>
            <a:spLocks noGrp="1"/>
          </p:cNvSpPr>
          <p:nvPr/>
        </p:nvSpPr>
        <p:spPr>
          <a:xfrm>
            <a:off x="1409700" y="2628900"/>
            <a:ext cx="2247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"Soy intolerante a la lactosa y me gusta la comida picante."</a:t>
            </a:r>
          </a:p>
        </p:txBody>
      </p:sp>
      <p:sp>
        <p:nvSpPr>
          <p:cNvPr id="10" name="demo-b-title">
            <a:extLst>
              <a:ext uri="{FF2B5EF4-FFF2-40B4-BE49-F238E27FC236}">
                <a16:creationId xmlns:a16="http://schemas.microsoft.com/office/drawing/2014/main" id="{F403C063-D8D2-4948-B873-5D29A9AD6DF2}"/>
              </a:ext>
            </a:extLst>
          </p:cNvPr>
          <p:cNvSpPr>
            <a:spLocks noGrp="1"/>
          </p:cNvSpPr>
          <p:nvPr/>
        </p:nvSpPr>
        <p:spPr>
          <a:xfrm>
            <a:off x="4933950" y="21526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2. Nueva conversación</a:t>
            </a:r>
          </a:p>
        </p:txBody>
      </p:sp>
      <p:sp>
        <p:nvSpPr>
          <p:cNvPr id="11" name="demo-b-copy">
            <a:extLst>
              <a:ext uri="{FF2B5EF4-FFF2-40B4-BE49-F238E27FC236}">
                <a16:creationId xmlns:a16="http://schemas.microsoft.com/office/drawing/2014/main" id="{48CDD7DB-1608-40CA-AF88-DBE229FC7BF2}"/>
              </a:ext>
            </a:extLst>
          </p:cNvPr>
          <p:cNvSpPr>
            <a:spLocks noGrp="1"/>
          </p:cNvSpPr>
          <p:nvPr/>
        </p:nvSpPr>
        <p:spPr>
          <a:xfrm>
            <a:off x="4933950" y="2628900"/>
            <a:ext cx="2247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 pregunta por una cena que le pueda gustar.</a:t>
            </a:r>
          </a:p>
        </p:txBody>
      </p:sp>
      <p:sp>
        <p:nvSpPr>
          <p:cNvPr id="12" name="demo-c-title">
            <a:extLst>
              <a:ext uri="{FF2B5EF4-FFF2-40B4-BE49-F238E27FC236}">
                <a16:creationId xmlns:a16="http://schemas.microsoft.com/office/drawing/2014/main" id="{BD7DD5AE-58EA-4AC4-8BBC-2A73A4112BFA}"/>
              </a:ext>
            </a:extLst>
          </p:cNvPr>
          <p:cNvSpPr>
            <a:spLocks noGrp="1"/>
          </p:cNvSpPr>
          <p:nvPr/>
        </p:nvSpPr>
        <p:spPr>
          <a:xfrm>
            <a:off x="8458200" y="21526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3. Respuesta adaptada</a:t>
            </a:r>
          </a:p>
        </p:txBody>
      </p:sp>
      <p:sp>
        <p:nvSpPr>
          <p:cNvPr id="13" name="demo-c-copy">
            <a:extLst>
              <a:ext uri="{FF2B5EF4-FFF2-40B4-BE49-F238E27FC236}">
                <a16:creationId xmlns:a16="http://schemas.microsoft.com/office/drawing/2014/main" id="{9F39D5C8-92A5-451B-9960-184A5B7094D7}"/>
              </a:ext>
            </a:extLst>
          </p:cNvPr>
          <p:cNvSpPr>
            <a:spLocks noGrp="1"/>
          </p:cNvSpPr>
          <p:nvPr/>
        </p:nvSpPr>
        <p:spPr>
          <a:xfrm>
            <a:off x="8458200" y="2628900"/>
            <a:ext cx="2247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El agente recupera la memoria y recomienda recetas compatibles.</a:t>
            </a:r>
          </a:p>
        </p:txBody>
      </p:sp>
      <p:sp>
        <p:nvSpPr>
          <p:cNvPr id="14" name="demo-arrow-1">
            <a:extLst>
              <a:ext uri="{FF2B5EF4-FFF2-40B4-BE49-F238E27FC236}">
                <a16:creationId xmlns:a16="http://schemas.microsoft.com/office/drawing/2014/main" id="{3FB3D63C-F269-4D75-8AD7-8517BDF1D7A6}"/>
              </a:ext>
            </a:extLst>
          </p:cNvPr>
          <p:cNvSpPr>
            <a:spLocks noGrp="1"/>
          </p:cNvSpPr>
          <p:nvPr/>
        </p:nvSpPr>
        <p:spPr>
          <a:xfrm>
            <a:off x="4038600" y="2514600"/>
            <a:ext cx="57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demo-arrow-2">
            <a:extLst>
              <a:ext uri="{FF2B5EF4-FFF2-40B4-BE49-F238E27FC236}">
                <a16:creationId xmlns:a16="http://schemas.microsoft.com/office/drawing/2014/main" id="{361AAB7A-9D11-48D2-B9BB-7086C0FE8956}"/>
              </a:ext>
            </a:extLst>
          </p:cNvPr>
          <p:cNvSpPr>
            <a:spLocks noGrp="1"/>
          </p:cNvSpPr>
          <p:nvPr/>
        </p:nvSpPr>
        <p:spPr>
          <a:xfrm>
            <a:off x="7562850" y="2514600"/>
            <a:ext cx="57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demo-bottom">
            <a:extLst>
              <a:ext uri="{FF2B5EF4-FFF2-40B4-BE49-F238E27FC236}">
                <a16:creationId xmlns:a16="http://schemas.microsoft.com/office/drawing/2014/main" id="{2AF864DE-73F5-4AFE-B340-8A672AD5B682}"/>
              </a:ext>
            </a:extLst>
          </p:cNvPr>
          <p:cNvSpPr>
            <a:spLocks noGrp="1"/>
          </p:cNvSpPr>
          <p:nvPr/>
        </p:nvSpPr>
        <p:spPr>
          <a:xfrm>
            <a:off x="1809750" y="4457700"/>
            <a:ext cx="8572500" cy="838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Y"/>
          </a:p>
        </p:txBody>
      </p:sp>
      <p:sp>
        <p:nvSpPr>
          <p:cNvPr id="17" name="demo-bottom-text">
            <a:extLst>
              <a:ext uri="{FF2B5EF4-FFF2-40B4-BE49-F238E27FC236}">
                <a16:creationId xmlns:a16="http://schemas.microsoft.com/office/drawing/2014/main" id="{4A304FD5-EBB9-4146-8217-A9841DEB4CF0}"/>
              </a:ext>
            </a:extLst>
          </p:cNvPr>
          <p:cNvSpPr>
            <a:spLocks noGrp="1"/>
          </p:cNvSpPr>
          <p:nvPr/>
        </p:nvSpPr>
        <p:spPr>
          <a:xfrm>
            <a:off x="2286000" y="4743450"/>
            <a:ext cx="762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La demo también debe mostrar aislamiento: Bob no debería ver recuerdos de Alice.</a:t>
            </a:r>
          </a:p>
        </p:txBody>
      </p:sp>
    </p:spTree>
    <p:extLst>
      <p:ext uri="{BB962C8B-B14F-4D97-AF65-F5344CB8AC3E}">
        <p14:creationId xmlns:p14="http://schemas.microsoft.com/office/powerpoint/2010/main" val="2147035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-8">
            <a:extLst>
              <a:ext uri="{FF2B5EF4-FFF2-40B4-BE49-F238E27FC236}">
                <a16:creationId xmlns:a16="http://schemas.microsoft.com/office/drawing/2014/main" id="{71D6E1BC-2374-43CD-84D3-B9C394F2621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OBLIGATORIO TT2 · TEMA DE PRESENTACION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FD63EC43-3220-4230-9922-7ECA7EAEDD05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Conclusión</a:t>
            </a:r>
          </a:p>
        </p:txBody>
      </p:sp>
      <p:sp>
        <p:nvSpPr>
          <p:cNvPr id="3" name="footer-8">
            <a:extLst>
              <a:ext uri="{FF2B5EF4-FFF2-40B4-BE49-F238E27FC236}">
                <a16:creationId xmlns:a16="http://schemas.microsoft.com/office/drawing/2014/main" id="{847F50BA-4928-4661-9077-F877CF6DCD8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Memoria a largo plazo en Agentic RAG  |  Presentador 3</a:t>
            </a:r>
          </a:p>
        </p:txBody>
      </p:sp>
      <p:sp>
        <p:nvSpPr>
          <p:cNvPr id="4" name="page-8">
            <a:extLst>
              <a:ext uri="{FF2B5EF4-FFF2-40B4-BE49-F238E27FC236}">
                <a16:creationId xmlns:a16="http://schemas.microsoft.com/office/drawing/2014/main" id="{E2CD78BC-5B44-44CF-93C6-EECC2FF6DB6B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" name="conclusion-main">
            <a:extLst>
              <a:ext uri="{FF2B5EF4-FFF2-40B4-BE49-F238E27FC236}">
                <a16:creationId xmlns:a16="http://schemas.microsoft.com/office/drawing/2014/main" id="{9EE68B57-7E58-4A85-AA06-C73CB93EBBDF}"/>
              </a:ext>
            </a:extLst>
          </p:cNvPr>
          <p:cNvSpPr>
            <a:spLocks noGrp="1"/>
          </p:cNvSpPr>
          <p:nvPr/>
        </p:nvSpPr>
        <p:spPr>
          <a:xfrm>
            <a:off x="1104900" y="1676400"/>
            <a:ext cx="9982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1E3A8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E3A8A"/>
                </a:solidFill>
                <a:latin typeface="Aptos Display"/>
                <a:ea typeface="Aptos Display"/>
                <a:cs typeface="Aptos Display"/>
              </a:rPr>
              <a:t>La memoria a largo plazo convierte un RAG puntual en un asistente con continuidad.</a:t>
            </a:r>
          </a:p>
        </p:txBody>
      </p:sp>
      <p:sp>
        <p:nvSpPr>
          <p:cNvPr id="6" name="conc-0">
            <a:extLst>
              <a:ext uri="{FF2B5EF4-FFF2-40B4-BE49-F238E27FC236}">
                <a16:creationId xmlns:a16="http://schemas.microsoft.com/office/drawing/2014/main" id="{D3E07B0B-0DBF-46AF-B677-557FF38E0BD7}"/>
              </a:ext>
            </a:extLst>
          </p:cNvPr>
          <p:cNvSpPr>
            <a:spLocks noGrp="1"/>
          </p:cNvSpPr>
          <p:nvPr/>
        </p:nvSpPr>
        <p:spPr>
          <a:xfrm>
            <a:off x="1428750" y="3105150"/>
            <a:ext cx="2762250" cy="142875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Y"/>
          </a:p>
        </p:txBody>
      </p:sp>
      <p:sp>
        <p:nvSpPr>
          <p:cNvPr id="7" name="conc-title-0">
            <a:extLst>
              <a:ext uri="{FF2B5EF4-FFF2-40B4-BE49-F238E27FC236}">
                <a16:creationId xmlns:a16="http://schemas.microsoft.com/office/drawing/2014/main" id="{F0280DE8-DB05-40BB-A27E-9ADC3D43F08E}"/>
              </a:ext>
            </a:extLst>
          </p:cNvPr>
          <p:cNvSpPr>
            <a:spLocks noGrp="1"/>
          </p:cNvSpPr>
          <p:nvPr/>
        </p:nvSpPr>
        <p:spPr>
          <a:xfrm>
            <a:off x="1676400" y="335280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Mejor estrategia</a:t>
            </a:r>
          </a:p>
        </p:txBody>
      </p:sp>
      <p:sp>
        <p:nvSpPr>
          <p:cNvPr id="8" name="conc-copy-0">
            <a:extLst>
              <a:ext uri="{FF2B5EF4-FFF2-40B4-BE49-F238E27FC236}">
                <a16:creationId xmlns:a16="http://schemas.microsoft.com/office/drawing/2014/main" id="{B9B6F87A-B968-40DD-BCE3-53319441BD0A}"/>
              </a:ext>
            </a:extLst>
          </p:cNvPr>
          <p:cNvSpPr>
            <a:spLocks noGrp="1"/>
          </p:cNvSpPr>
          <p:nvPr/>
        </p:nvSpPr>
        <p:spPr>
          <a:xfrm>
            <a:off x="1714500" y="3829050"/>
            <a:ext cx="219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Híbrida: vectorial + estructurada + resúmenes.</a:t>
            </a:r>
          </a:p>
        </p:txBody>
      </p:sp>
      <p:sp>
        <p:nvSpPr>
          <p:cNvPr id="9" name="conc-1">
            <a:extLst>
              <a:ext uri="{FF2B5EF4-FFF2-40B4-BE49-F238E27FC236}">
                <a16:creationId xmlns:a16="http://schemas.microsoft.com/office/drawing/2014/main" id="{8BE4B87E-176B-4DCC-B9D1-3D55506617C5}"/>
              </a:ext>
            </a:extLst>
          </p:cNvPr>
          <p:cNvSpPr>
            <a:spLocks noGrp="1"/>
          </p:cNvSpPr>
          <p:nvPr/>
        </p:nvSpPr>
        <p:spPr>
          <a:xfrm>
            <a:off x="4572000" y="3105150"/>
            <a:ext cx="2762250" cy="142875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Y"/>
          </a:p>
        </p:txBody>
      </p:sp>
      <p:sp>
        <p:nvSpPr>
          <p:cNvPr id="10" name="conc-title-1">
            <a:extLst>
              <a:ext uri="{FF2B5EF4-FFF2-40B4-BE49-F238E27FC236}">
                <a16:creationId xmlns:a16="http://schemas.microsoft.com/office/drawing/2014/main" id="{745AA2A2-A798-4E62-8261-C567B2898436}"/>
              </a:ext>
            </a:extLst>
          </p:cNvPr>
          <p:cNvSpPr>
            <a:spLocks noGrp="1"/>
          </p:cNvSpPr>
          <p:nvPr/>
        </p:nvSpPr>
        <p:spPr>
          <a:xfrm>
            <a:off x="4819650" y="335280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Mayor beneficio</a:t>
            </a:r>
          </a:p>
        </p:txBody>
      </p:sp>
      <p:sp>
        <p:nvSpPr>
          <p:cNvPr id="11" name="conc-copy-1">
            <a:extLst>
              <a:ext uri="{FF2B5EF4-FFF2-40B4-BE49-F238E27FC236}">
                <a16:creationId xmlns:a16="http://schemas.microsoft.com/office/drawing/2014/main" id="{A5787644-306D-4E28-A3FC-3275109F1813}"/>
              </a:ext>
            </a:extLst>
          </p:cNvPr>
          <p:cNvSpPr>
            <a:spLocks noGrp="1"/>
          </p:cNvSpPr>
          <p:nvPr/>
        </p:nvSpPr>
        <p:spPr>
          <a:xfrm>
            <a:off x="4857750" y="3829050"/>
            <a:ext cx="219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Personalización y coherencia entre conversaciones.</a:t>
            </a:r>
          </a:p>
        </p:txBody>
      </p:sp>
      <p:sp>
        <p:nvSpPr>
          <p:cNvPr id="12" name="conc-2">
            <a:extLst>
              <a:ext uri="{FF2B5EF4-FFF2-40B4-BE49-F238E27FC236}">
                <a16:creationId xmlns:a16="http://schemas.microsoft.com/office/drawing/2014/main" id="{023B3330-58EB-400A-8540-BB2DFAA087BF}"/>
              </a:ext>
            </a:extLst>
          </p:cNvPr>
          <p:cNvSpPr>
            <a:spLocks noGrp="1"/>
          </p:cNvSpPr>
          <p:nvPr/>
        </p:nvSpPr>
        <p:spPr>
          <a:xfrm>
            <a:off x="7715250" y="3105150"/>
            <a:ext cx="2762250" cy="142875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Y"/>
          </a:p>
        </p:txBody>
      </p:sp>
      <p:sp>
        <p:nvSpPr>
          <p:cNvPr id="13" name="conc-title-2">
            <a:extLst>
              <a:ext uri="{FF2B5EF4-FFF2-40B4-BE49-F238E27FC236}">
                <a16:creationId xmlns:a16="http://schemas.microsoft.com/office/drawing/2014/main" id="{5D916C08-84CC-401F-A03F-BDD09E45C2EC}"/>
              </a:ext>
            </a:extLst>
          </p:cNvPr>
          <p:cNvSpPr>
            <a:spLocks noGrp="1"/>
          </p:cNvSpPr>
          <p:nvPr/>
        </p:nvSpPr>
        <p:spPr>
          <a:xfrm>
            <a:off x="7962900" y="335280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Mayor cuidado</a:t>
            </a:r>
          </a:p>
        </p:txBody>
      </p:sp>
      <p:sp>
        <p:nvSpPr>
          <p:cNvPr id="14" name="conc-copy-2">
            <a:extLst>
              <a:ext uri="{FF2B5EF4-FFF2-40B4-BE49-F238E27FC236}">
                <a16:creationId xmlns:a16="http://schemas.microsoft.com/office/drawing/2014/main" id="{0C167194-E8D1-4B93-943B-2B520E497A67}"/>
              </a:ext>
            </a:extLst>
          </p:cNvPr>
          <p:cNvSpPr>
            <a:spLocks noGrp="1"/>
          </p:cNvSpPr>
          <p:nvPr/>
        </p:nvSpPr>
        <p:spPr>
          <a:xfrm>
            <a:off x="8001000" y="3829050"/>
            <a:ext cx="219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Privacidad, duplicados, recuerdos incorrectos y costo.</a:t>
            </a:r>
          </a:p>
        </p:txBody>
      </p:sp>
      <p:sp>
        <p:nvSpPr>
          <p:cNvPr id="15" name="close">
            <a:extLst>
              <a:ext uri="{FF2B5EF4-FFF2-40B4-BE49-F238E27FC236}">
                <a16:creationId xmlns:a16="http://schemas.microsoft.com/office/drawing/2014/main" id="{5301DB4D-CF4D-4425-9FDF-803C8E4332C6}"/>
              </a:ext>
            </a:extLst>
          </p:cNvPr>
          <p:cNvSpPr>
            <a:spLocks noGrp="1"/>
          </p:cNvSpPr>
          <p:nvPr/>
        </p:nvSpPr>
        <p:spPr>
          <a:xfrm>
            <a:off x="1524000" y="5410200"/>
            <a:ext cx="914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Para el obligatorio, la memoria ya funciona como base; el próximo paso es medir y endurecer controles.</a:t>
            </a:r>
          </a:p>
        </p:txBody>
      </p:sp>
    </p:spTree>
    <p:extLst>
      <p:ext uri="{BB962C8B-B14F-4D97-AF65-F5344CB8AC3E}">
        <p14:creationId xmlns:p14="http://schemas.microsoft.com/office/powerpoint/2010/main" val="200707152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1600</Words>
  <Application>Microsoft Macintosh PowerPoint</Application>
  <DocSecurity>0</DocSecurity>
  <PresentationFormat>Widescreen</PresentationFormat>
  <Paragraphs>171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Felipe Espindola Badano</cp:lastModifiedBy>
  <cp:revision>2</cp:revision>
  <dcterms:created xsi:type="dcterms:W3CDTF">2026-06-16T02:57:32Z</dcterms:created>
  <dcterms:modified xsi:type="dcterms:W3CDTF">2026-06-16T07:25:19Z</dcterms:modified>
</cp:coreProperties>
</file>